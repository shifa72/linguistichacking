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8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0" y="1234440"/>
            <a:ext cx="7772400" cy="448056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554480"/>
            <a:ext cx="72237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2A2218"/>
                </a:solidFill>
                <a:latin typeface="Georgia"/>
              </a:rPr>
              <a:t>Лингвистический взлом: Русский язык через слова, которые вы уже знаете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3063240"/>
            <a:ext cx="7223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1">
                <a:solidFill>
                  <a:srgbClr val="3D5A80"/>
                </a:solidFill>
                <a:latin typeface="Georgia"/>
              </a:rPr>
              <a:t>Le russe par les mots que vous connaissez déjà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749039"/>
            <a:ext cx="7223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2A2218"/>
                </a:solidFill>
                <a:latin typeface="Georgia"/>
              </a:rPr>
              <a:t>ШАГБАНОВА ХАБИБА САДЫРОВНА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4251960"/>
            <a:ext cx="6858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6B5E4F"/>
                </a:solidFill>
                <a:latin typeface="Calibri"/>
              </a:rPr>
              <a:t>доктор филологических наук, профессор, заместитель директора по социальной и культурной адаптации и межкультурной коммуникации ИРЯ РУДН им. Патриса Лумумбы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fill="hold" nodeType="clickEffect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fill="hold" nodeType="clickEffect">
                        <p:stCondLst>
                          <p:cond delay="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8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СЛАЙД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2A2218"/>
                </a:solidFill>
                <a:latin typeface="Georgia"/>
              </a:rPr>
              <a:t>Цель и задачи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846320" cy="466344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434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7A1F2B"/>
                </a:solidFill>
                <a:latin typeface="Calibri"/>
              </a:rPr>
              <a:t>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434840" cy="3474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2A2218"/>
                </a:solidFill>
                <a:latin typeface="Calibri"/>
              </a:rPr>
              <a:t>Демонстрация метода снятия языкового барьера у франкоговорящих студентов уровня A0–A1 через активацию пассивного лексического запаса.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463040"/>
            <a:ext cx="576072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627632"/>
            <a:ext cx="5394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2A2218"/>
                </a:solidFill>
                <a:latin typeface="Georgia"/>
              </a:rPr>
              <a:t>Детектив, не зубрёжка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029968"/>
            <a:ext cx="5394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6B5E4F"/>
                </a:solidFill>
                <a:latin typeface="Calibri"/>
              </a:rPr>
              <a:t>Трансформировать страх перед кириллицей в азарт исследователя.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017520"/>
            <a:ext cx="576072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3182112"/>
            <a:ext cx="5394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2A2218"/>
                </a:solidFill>
                <a:latin typeface="Georgia"/>
              </a:rPr>
              <a:t>Фонетические ловушки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584448"/>
            <a:ext cx="5394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6B5E4F"/>
                </a:solidFill>
                <a:latin typeface="Calibri"/>
              </a:rPr>
              <a:t>Отработать ударение, звук [ы] и букву Ё в знакомых корнях.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572000"/>
            <a:ext cx="576072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4736592"/>
            <a:ext cx="5394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2A2218"/>
                </a:solidFill>
                <a:latin typeface="Georgia"/>
              </a:rPr>
              <a:t>Ситуация успеха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5138928"/>
            <a:ext cx="5394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6B5E4F"/>
                </a:solidFill>
                <a:latin typeface="Calibri"/>
              </a:rPr>
              <a:t>Студент понимает слова с первой минуты.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" fill="hold" nodeType="clickEffect">
                        <p:stCondLst>
                          <p:cond delay="0"/>
                        </p:stCondLst>
                        <p:childTnLst>
                          <p:par>
                            <p:cTn id="1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6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9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" fill="hold" nodeType="clickEffect">
                        <p:stCondLst>
                          <p:cond delay="0"/>
                        </p:stCondLst>
                        <p:childTnLst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6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9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2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" fill="hold" nodeType="clickEffect">
                        <p:stCondLst>
                          <p:cond delay="0"/>
                        </p:stCondLst>
                        <p:childTnLst>
                          <p:par>
                            <p:cTn id="3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6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9" dur="45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2" dur="45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rph-eiff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pic>
        <p:nvPicPr>
          <p:cNvPr id="4" name="Picture 3" descr="morph-bas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68415" y="0"/>
            <a:ext cx="54864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C4A35A"/>
                </a:solidFill>
                <a:latin typeface="Calibri"/>
              </a:rPr>
              <a:t>CATASTROPHE · PANIQUE · QUE FAIRE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1737360"/>
            <a:ext cx="7772400" cy="3840480"/>
          </a:xfrm>
          <a:prstGeom prst="roundRect">
            <a:avLst>
              <a:gd name="adj" fmla="val 4000"/>
            </a:avLst>
          </a:prstGeom>
          <a:solidFill>
            <a:srgbClr val="2A1214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965960"/>
            <a:ext cx="7223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8D5A3"/>
                </a:solidFill>
                <a:latin typeface="Calibri"/>
              </a:rPr>
              <a:t>Language pack installer · v.1892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743200"/>
            <a:ext cx="7223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FFFAF3"/>
                </a:solidFill>
                <a:latin typeface="Courier New"/>
              </a:rPr>
              <a:t>* * * * * * * 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566160"/>
            <a:ext cx="7223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E07070"/>
                </a:solidFill>
                <a:latin typeface="Courier New"/>
              </a:rPr>
              <a:t>ERROR: LANGUAGE PACK NOT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297680"/>
            <a:ext cx="7223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E07070"/>
                </a:solidFill>
                <a:latin typeface="Calibri"/>
              </a:rPr>
              <a:t>SYSTEM FAILURE · ЧТО ДЕЛАТЬ?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3" dur="45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" fill="hold" nodeType="clickEffect">
                        <p:stCondLst>
                          <p:cond delay="0"/>
                        </p:stCondLst>
                        <p:childTnLst>
                          <p:par>
                            <p:cTn id="1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" fill="hold" nodeType="clickEffect">
                        <p:stCondLst>
                          <p:cond delay="0"/>
                        </p:stCondLst>
                        <p:childTnLst>
                          <p:par>
                            <p:cTn id="1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1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" fill="hold" nodeType="clickEffect">
                        <p:stCondLst>
                          <p:cond delay="0"/>
                        </p:stCondLst>
                        <p:childTnLst>
                          <p:par>
                            <p:cTn id="2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5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200" b="1" i="0">
                <a:solidFill>
                  <a:srgbClr val="E07070"/>
                </a:solidFill>
                <a:latin typeface="Courier New"/>
              </a:rPr>
              <a:t>* * * * * * * 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E8D5A3"/>
                </a:solidFill>
                <a:latin typeface="Courier New"/>
              </a:rPr>
              <a:t>АВАНТЮРА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200" b="1" i="0">
                <a:solidFill>
                  <a:srgbClr val="E07070"/>
                </a:solidFill>
                <a:latin typeface="Courier New"/>
              </a:rPr>
              <a:t>* * * * * * * 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E8D5A3"/>
                </a:solidFill>
                <a:latin typeface="Courier New"/>
              </a:rPr>
              <a:t>БУЛЬВАР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200" b="1" i="0">
                <a:solidFill>
                  <a:srgbClr val="E07070"/>
                </a:solidFill>
                <a:latin typeface="Courier New"/>
              </a:rPr>
              <a:t>* * * * * * *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E8D5A3"/>
                </a:solidFill>
                <a:latin typeface="Courier New"/>
              </a:rPr>
              <a:t>ВОЯЖ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fill="hold" nodeType="clickEffect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АЛФАВИТ ЧЕРЕЗ ГАЛЛИЦИЗМЫ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2A2218"/>
                </a:solidFill>
                <a:latin typeface="Georgia"/>
              </a:rPr>
              <a:t>Слова, которые вы уже знаете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Авантюра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aventure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916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Бульвар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boulevard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916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Вояж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voyage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4173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6916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Гурман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1945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gourmand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175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918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Дебют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début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0175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2918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Жалюзи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7947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jalousie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0175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2918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Кошмар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7947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cauchemar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30175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2918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Люстра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7947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lustre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177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920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Пальто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3949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paletot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46177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8920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Шедевр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3949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chef-d'œuvre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6177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8920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Этикет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3949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étiquette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81160" y="46177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489204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2A2218"/>
                </a:solidFill>
                <a:latin typeface="Georgia"/>
              </a:rPr>
              <a:t>Ювелир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539496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3D5A80"/>
                </a:solidFill>
                <a:latin typeface="Georgia"/>
              </a:rPr>
              <a:t>joaillier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6B5E4F"/>
                </a:solidFill>
                <a:latin typeface="Calibri"/>
              </a:rPr>
              <a:t>В веб-версии слова идут бегущей строкой; здесь — ключевые примеры для разбора.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" fill="hold" nodeType="clickEffect">
                        <p:stCondLst>
                          <p:cond delay="0"/>
                        </p:stCondLst>
                        <p:childTnLst>
                          <p:par>
                            <p:cTn id="1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6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9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" fill="hold" nodeType="clickEffect">
                        <p:stCondLst>
                          <p:cond delay="0"/>
                        </p:stCondLst>
                        <p:childTnLst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6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9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2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" fill="hold" nodeType="clickEffect">
                        <p:stCondLst>
                          <p:cond delay="0"/>
                        </p:stCondLst>
                        <p:childTnLst>
                          <p:par>
                            <p:cTn id="3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6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9" dur="45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2" dur="45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3" fill="hold" nodeType="clickEffect">
                        <p:stCondLst>
                          <p:cond delay="0"/>
                        </p:stCondLst>
                        <p:childTnLst>
                          <p:par>
                            <p:cTn id="4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6" dur="45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9" dur="45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2" dur="45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3" fill="hold" nodeType="clickEffect">
                        <p:stCondLst>
                          <p:cond delay="0"/>
                        </p:stCondLst>
                        <p:childTnLst>
                          <p:par>
                            <p:cTn id="5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6" dur="45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9" dur="45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2" dur="45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3" fill="hold" nodeType="clickEffect">
                        <p:stCondLst>
                          <p:cond delay="0"/>
                        </p:stCondLst>
                        <p:childTnLst>
                          <p:par>
                            <p:cTn id="6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6" dur="45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9" dur="45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2" dur="45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3" fill="hold" nodeType="clickEffect">
                        <p:stCondLst>
                          <p:cond delay="0"/>
                        </p:stCondLst>
                        <p:childTnLst>
                          <p:par>
                            <p:cTn id="7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6" dur="45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9" dur="45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8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82" dur="45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3" fill="hold" nodeType="clickEffect">
                        <p:stCondLst>
                          <p:cond delay="0"/>
                        </p:stCondLst>
                        <p:childTnLst>
                          <p:par>
                            <p:cTn id="8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86" dur="45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8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89" dur="45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9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2" dur="45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3" fill="hold" nodeType="clickEffect">
                        <p:stCondLst>
                          <p:cond delay="0"/>
                        </p:stCondLst>
                        <p:childTnLst>
                          <p:par>
                            <p:cTn id="9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6" dur="45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9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9" dur="45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2" dur="45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3" fill="hold" nodeType="clickEffect">
                        <p:stCondLst>
                          <p:cond delay="0"/>
                        </p:stCondLst>
                        <p:childTnLst>
                          <p:par>
                            <p:cTn id="10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6" dur="45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9" dur="45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1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2" dur="45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3" fill="hold" nodeType="clickEffect">
                        <p:stCondLst>
                          <p:cond delay="0"/>
                        </p:stCondLst>
                        <p:childTnLst>
                          <p:par>
                            <p:cTn id="11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6" dur="45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1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9" dur="45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2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2" dur="450"/>
                                    <p:tgtEl>
                                      <p:spTgt spid="4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3" fill="hold" nodeType="clickEffect">
                        <p:stCondLst>
                          <p:cond delay="0"/>
                        </p:stCondLst>
                        <p:childTnLst>
                          <p:par>
                            <p:cTn id="12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2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6" dur="450"/>
                                    <p:tgtEl>
                                      <p:spTgt spid="4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CERTIFICAT DE NATIONALITÉ RUSSE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2A2218"/>
                </a:solidFill>
                <a:latin typeface="Georgia"/>
              </a:rPr>
              <a:t>Русский паспорт французских слов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6B5E4F"/>
                </a:solidFill>
                <a:latin typeface="Calibri"/>
              </a:rPr>
              <a:t>Они живут по нашим законам и платят налоги ударениями.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7A1F2B"/>
                </a:solidFill>
                <a:latin typeface="Calibri"/>
              </a:rPr>
              <a:t>ОЧЕРЕДЬ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7A1F2B"/>
                </a:solidFill>
                <a:latin typeface="Georgia"/>
              </a:rPr>
              <a:t>Бульон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3D5A80"/>
                </a:solidFill>
                <a:latin typeface="Georgia"/>
              </a:rPr>
              <a:t>bouillon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3D5A80"/>
                </a:solidFill>
                <a:latin typeface="Calibri"/>
              </a:rPr>
              <a:t>bouillon — бульон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84632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1B3FA0"/>
                </a:solidFill>
                <a:latin typeface="Calibri"/>
              </a:rPr>
              <a:t>ПРИНЯТО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800600"/>
            <a:ext cx="1828800" cy="548640"/>
          </a:xfrm>
          <a:prstGeom prst="roundRect">
            <a:avLst/>
          </a:prstGeom>
          <a:noFill/>
          <a:ln w="31750">
            <a:solidFill>
              <a:srgbClr val="1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92024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488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7A1F2B"/>
                </a:solidFill>
                <a:latin typeface="Calibri"/>
              </a:rPr>
              <a:t>ОЧЕРЕДЬ ·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7A1F2B"/>
                </a:solidFill>
                <a:latin typeface="Georgia"/>
              </a:rPr>
              <a:t>Котлета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3D5A80"/>
                </a:solidFill>
                <a:latin typeface="Georgia"/>
              </a:rPr>
              <a:t>côtelette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77639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3D5A80"/>
                </a:solidFill>
                <a:latin typeface="Calibri"/>
              </a:rPr>
              <a:t>côtelette — котлета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84632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1B3FA0"/>
                </a:solidFill>
                <a:latin typeface="Calibri"/>
              </a:rPr>
              <a:t>ПРИНЯТО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4800600"/>
            <a:ext cx="1828800" cy="548640"/>
          </a:xfrm>
          <a:prstGeom prst="roundRect">
            <a:avLst/>
          </a:prstGeom>
          <a:noFill/>
          <a:ln w="31750">
            <a:solidFill>
              <a:srgbClr val="1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192024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1488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7A1F2B"/>
                </a:solidFill>
                <a:latin typeface="Calibri"/>
              </a:rPr>
              <a:t>ОЧЕРЕДЬ ·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74320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7A1F2B"/>
                </a:solidFill>
                <a:latin typeface="Georgia"/>
              </a:rPr>
              <a:t>Винегрет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4747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3D5A80"/>
                </a:solidFill>
                <a:latin typeface="Georgia"/>
              </a:rPr>
              <a:t>vinaigrette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977639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3D5A80"/>
                </a:solidFill>
                <a:latin typeface="Calibri"/>
              </a:rPr>
              <a:t>vinaigrette — винегрет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84632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1B3FA0"/>
                </a:solidFill>
                <a:latin typeface="Calibri"/>
              </a:rPr>
              <a:t>ПРИНЯТО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4800600"/>
            <a:ext cx="1828800" cy="548640"/>
          </a:xfrm>
          <a:prstGeom prst="roundRect">
            <a:avLst/>
          </a:prstGeom>
          <a:noFill/>
          <a:ln w="31750">
            <a:solidFill>
              <a:srgbClr val="1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5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8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" fill="hold" nodeType="clickEffect">
                        <p:stCondLst>
                          <p:cond delay="0"/>
                        </p:stCondLst>
                        <p:childTnLst>
                          <p:par>
                            <p:cTn id="2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5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" fill="hold" nodeType="clickEffect">
                        <p:stCondLst>
                          <p:cond delay="0"/>
                        </p:stCondLst>
                        <p:childTnLst>
                          <p:par>
                            <p:cTn id="2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9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2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5" dur="45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8" dur="45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1" dur="45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" fill="hold" nodeType="clickEffect">
                        <p:stCondLst>
                          <p:cond delay="0"/>
                        </p:stCondLst>
                        <p:childTnLst>
                          <p:par>
                            <p:cTn id="4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5" dur="45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8" dur="45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9" fill="hold" nodeType="clickEffect">
                        <p:stCondLst>
                          <p:cond delay="0"/>
                        </p:stCondLst>
                        <p:childTnLst>
                          <p:par>
                            <p:cTn id="5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2" dur="45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5" dur="45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8" dur="45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1" dur="45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4" dur="45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5" fill="hold" nodeType="clickEffect">
                        <p:stCondLst>
                          <p:cond delay="0"/>
                        </p:stCondLst>
                        <p:childTnLst>
                          <p:par>
                            <p:cTn id="6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8" dur="45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1" dur="45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ЛОЖНЫЕ ДРУЗЬЯ ПЕРЕВОДЧИКА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2A2218"/>
                </a:solidFill>
                <a:latin typeface="Georgia"/>
              </a:rPr>
              <a:t>Не копия, а превращение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6B5E4F"/>
                </a:solidFill>
                <a:latin typeface="Calibri"/>
              </a:rPr>
              <a:t>Пять слов, в которых французский корень остался, а русская «маска» изменила форму, звук или оттенок смысла.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26080"/>
            <a:ext cx="2359152" cy="457200"/>
          </a:xfrm>
          <a:prstGeom prst="roundRect">
            <a:avLst/>
          </a:prstGeom>
          <a:solidFill>
            <a:srgbClr val="FFFAF3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>
                <a:solidFill>
                  <a:srgbClr val="7A1F2B"/>
                </a:solidFill>
                <a:latin typeface="Georgia"/>
              </a:rPr>
              <a:t>Шарлатан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2926080"/>
            <a:ext cx="2121408" cy="457200"/>
          </a:xfrm>
          <a:prstGeom prst="roundRect">
            <a:avLst/>
          </a:prstGeom>
          <a:solidFill>
            <a:srgbClr val="FFFAF3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>
                <a:solidFill>
                  <a:srgbClr val="7A1F2B"/>
                </a:solidFill>
                <a:latin typeface="Georgia"/>
              </a:rPr>
              <a:t>Шезлонг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926080"/>
            <a:ext cx="1883664" cy="457200"/>
          </a:xfrm>
          <a:prstGeom prst="roundRect">
            <a:avLst/>
          </a:prstGeom>
          <a:solidFill>
            <a:srgbClr val="FFFAF3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>
                <a:solidFill>
                  <a:srgbClr val="7A1F2B"/>
                </a:solidFill>
                <a:latin typeface="Georgia"/>
              </a:rPr>
              <a:t>Кошмар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926080"/>
            <a:ext cx="1645920" cy="457200"/>
          </a:xfrm>
          <a:prstGeom prst="roundRect">
            <a:avLst/>
          </a:prstGeom>
          <a:solidFill>
            <a:srgbClr val="FFFAF3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>
                <a:solidFill>
                  <a:srgbClr val="7A1F2B"/>
                </a:solidFill>
                <a:latin typeface="Georgia"/>
              </a:rPr>
              <a:t>Кашне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38944" y="2926080"/>
            <a:ext cx="1645920" cy="457200"/>
          </a:xfrm>
          <a:prstGeom prst="roundRect">
            <a:avLst/>
          </a:prstGeom>
          <a:solidFill>
            <a:srgbClr val="FFFAF3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i="0">
                <a:solidFill>
                  <a:srgbClr val="7A1F2B"/>
                </a:solidFill>
                <a:latin typeface="Georgia"/>
              </a:rPr>
              <a:t>Кашпо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fill="hold" nodeType="clickEffect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fill="hold" nodeType="clickEffect">
                        <p:stCondLst>
                          <p:cond delay="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8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" fill="hold" nodeType="clickEffect">
                        <p:stCondLst>
                          <p:cond delay="0"/>
                        </p:stCondLst>
                        <p:childTnLst>
                          <p:par>
                            <p:cTn id="2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" fill="hold" nodeType="clickEffect">
                        <p:stCondLst>
                          <p:cond delay="0"/>
                        </p:stCondLst>
                        <p:childTnLst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6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7A1F2B"/>
                </a:solidFill>
                <a:latin typeface="Georgia"/>
              </a:rPr>
              <a:t>Шарлатан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303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1">
                <a:solidFill>
                  <a:srgbClr val="3D5A80"/>
                </a:solidFill>
                <a:latin typeface="Georgia"/>
              </a:rPr>
              <a:t>Charlatan  [шарлатА]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ВО ФРАНЦИИ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727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Уличный торговец зельями, болтун. От ит. ciarlare — «болтать».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889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986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В РУССКОМ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729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Обманщик, мошенник, выдающий себя за знатока.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988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ТИП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731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Прямое заимствование. Написание почти без изменений.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fill="hold" nodeType="clickEffect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" fill="hold" nodeType="clickEffect">
                        <p:stCondLst>
                          <p:cond delay="0"/>
                        </p:stCondLst>
                        <p:childTnLst>
                          <p:par>
                            <p:cTn id="2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4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7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0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" fill="hold" nodeType="clickEffect">
                        <p:stCondLst>
                          <p:cond delay="0"/>
                        </p:stCondLst>
                        <p:childTnLst>
                          <p:par>
                            <p:cTn id="3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4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7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0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7A1F2B"/>
                </a:solidFill>
                <a:latin typeface="Georgia"/>
              </a:rPr>
              <a:t>Шезлонг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303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1">
                <a:solidFill>
                  <a:srgbClr val="3D5A80"/>
                </a:solidFill>
                <a:latin typeface="Georgia"/>
              </a:rPr>
              <a:t>Chaise longue  [шэз лонг]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ДОСЛОВНО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727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Стул (chaise) длинный (longue).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889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986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ТРАНСФОРМАЦИЯ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729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Два слова слились в одно существительное мужского рода.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988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ТИП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731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Слияние. Значение мебели для полулежачего отдыха сохранилось.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fill="hold" nodeType="clickEffect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" fill="hold" nodeType="clickEffect">
                        <p:stCondLst>
                          <p:cond delay="0"/>
                        </p:stCondLst>
                        <p:childTnLst>
                          <p:par>
                            <p:cTn id="2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4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7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0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" fill="hold" nodeType="clickEffect">
                        <p:stCondLst>
                          <p:cond delay="0"/>
                        </p:stCondLst>
                        <p:childTnLst>
                          <p:par>
                            <p:cTn id="3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4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7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0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7A1F2B"/>
                </a:solidFill>
                <a:latin typeface="Georgia"/>
              </a:rPr>
              <a:t>Кошмар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303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1">
                <a:solidFill>
                  <a:srgbClr val="3D5A80"/>
                </a:solidFill>
                <a:latin typeface="Georgia"/>
              </a:rPr>
              <a:t>Cauchemar  [кошмАр]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СОСТАВ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727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Coucher — укладывать, давить. Mar — злой дух, демон.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889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986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ДОСЛОВНО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729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«Демон, который давит на грудь во сне».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988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В РУССКОМ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731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И страшный сон, и любое тяжёлое событие: «политический кошмар».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fill="hold" nodeType="clickEffect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" fill="hold" nodeType="clickEffect">
                        <p:stCondLst>
                          <p:cond delay="0"/>
                        </p:stCondLst>
                        <p:childTnLst>
                          <p:par>
                            <p:cTn id="2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4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7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0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" fill="hold" nodeType="clickEffect">
                        <p:stCondLst>
                          <p:cond delay="0"/>
                        </p:stCondLst>
                        <p:childTnLst>
                          <p:par>
                            <p:cTn id="3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4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7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0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7A1F2B"/>
                </a:solidFill>
                <a:latin typeface="Georgia"/>
              </a:rPr>
              <a:t>Кашне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303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1">
                <a:solidFill>
                  <a:srgbClr val="3D5A80"/>
                </a:solidFill>
                <a:latin typeface="Georgia"/>
              </a:rPr>
              <a:t>Cache-nez  [кашнЭ]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ДОСЛОВНО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727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Спрячь нос! Cacher — прятать + nez — нос.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889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986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ТРАНСФОРМАЦИЯ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729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Исчезли дефис и французский апостроф. Слово стало цельным.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988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СМЫСЛ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731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Шейный платок. Сначала — стиль и защита лица, не только тепло.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fill="hold" nodeType="clickEffect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" fill="hold" nodeType="clickEffect">
                        <p:stCondLst>
                          <p:cond delay="0"/>
                        </p:stCondLst>
                        <p:childTnLst>
                          <p:par>
                            <p:cTn id="2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4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7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0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" fill="hold" nodeType="clickEffect">
                        <p:stCondLst>
                          <p:cond delay="0"/>
                        </p:stCondLst>
                        <p:childTnLst>
                          <p:par>
                            <p:cTn id="3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4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7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0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7A1F2B"/>
                </a:solidFill>
                <a:latin typeface="Georgia"/>
              </a:rPr>
              <a:t>Кашпо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303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1">
                <a:solidFill>
                  <a:srgbClr val="3D5A80"/>
                </a:solidFill>
                <a:latin typeface="Georgia"/>
              </a:rPr>
              <a:t>Cache-pot  [кашпО]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984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ДОСЛОВНО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727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Спрячь горшок! Cacher — прятать + pot — горшок.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889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986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ПАРА К КАШНЕ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729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Та же модель: две части срослись по правилам русской грамматики.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212080" cy="1417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98848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A35A"/>
                </a:solidFill>
                <a:latin typeface="Calibri"/>
              </a:rPr>
              <a:t>СМЫСЛ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73168"/>
            <a:ext cx="4846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Calibri"/>
              </a:rPr>
              <a:t>Декоративная оболочка, скрывающая неприглядный цветочный горшок.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fill="hold" nodeType="clickEffect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7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" fill="hold" nodeType="clickEffect">
                        <p:stCondLst>
                          <p:cond delay="0"/>
                        </p:stCondLst>
                        <p:childTnLst>
                          <p:par>
                            <p:cTn id="2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4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7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0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" fill="hold" nodeType="clickEffect">
                        <p:stCondLst>
                          <p:cond delay="0"/>
                        </p:stCondLst>
                        <p:childTnLst>
                          <p:par>
                            <p:cTn id="3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4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7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0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СЛАЙД 4 · АЛФАВИТНЫЙ ШОК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2A2218"/>
                </a:solidFill>
                <a:latin typeface="Georgia"/>
              </a:rPr>
              <a:t>Что мы уже можем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331720" cy="65836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148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Русское слово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417320"/>
            <a:ext cx="2697480" cy="65836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55448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Французский оригинал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17320"/>
            <a:ext cx="3063240" cy="65836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554480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Дословный перевод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417320"/>
            <a:ext cx="3063240" cy="65836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54480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Тип изменения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30552"/>
            <a:ext cx="233172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67712"/>
            <a:ext cx="2148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Шарлатан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130552"/>
            <a:ext cx="269748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267712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Charlatan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130552"/>
            <a:ext cx="306324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267712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Болтун / мошенник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130552"/>
            <a:ext cx="306324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267712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Прямое заимствование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843784"/>
            <a:ext cx="2331720" cy="658368"/>
          </a:xfrm>
          <a:prstGeom prst="rect">
            <a:avLst/>
          </a:prstGeom>
          <a:solidFill>
            <a:srgbClr val="FA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980944"/>
            <a:ext cx="2148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Шезлонг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843784"/>
            <a:ext cx="2697480" cy="658368"/>
          </a:xfrm>
          <a:prstGeom prst="rect">
            <a:avLst/>
          </a:prstGeom>
          <a:solidFill>
            <a:srgbClr val="FA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2980944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Chaise longue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843784"/>
            <a:ext cx="3063240" cy="658368"/>
          </a:xfrm>
          <a:prstGeom prst="rect">
            <a:avLst/>
          </a:prstGeom>
          <a:solidFill>
            <a:srgbClr val="FA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980944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Стул длинный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843784"/>
            <a:ext cx="3063240" cy="658368"/>
          </a:xfrm>
          <a:prstGeom prst="rect">
            <a:avLst/>
          </a:prstGeom>
          <a:solidFill>
            <a:srgbClr val="FA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980944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Слияние двух слов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557016"/>
            <a:ext cx="233172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694176"/>
            <a:ext cx="2148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Кошмар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557016"/>
            <a:ext cx="269748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3694176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Cauchemar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557016"/>
            <a:ext cx="306324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694176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Укладывающий демон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3557016"/>
            <a:ext cx="306324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3694176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Фонетическое заимствование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270248"/>
            <a:ext cx="2331720" cy="658368"/>
          </a:xfrm>
          <a:prstGeom prst="rect">
            <a:avLst/>
          </a:prstGeom>
          <a:solidFill>
            <a:srgbClr val="FA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07408"/>
            <a:ext cx="2148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Кашне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70248"/>
            <a:ext cx="2697480" cy="658368"/>
          </a:xfrm>
          <a:prstGeom prst="rect">
            <a:avLst/>
          </a:prstGeom>
          <a:solidFill>
            <a:srgbClr val="FA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4407408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Cache-nez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4270248"/>
            <a:ext cx="3063240" cy="658368"/>
          </a:xfrm>
          <a:prstGeom prst="rect">
            <a:avLst/>
          </a:prstGeom>
          <a:solidFill>
            <a:srgbClr val="FA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407408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Спрячь нос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4270248"/>
            <a:ext cx="3063240" cy="658368"/>
          </a:xfrm>
          <a:prstGeom prst="rect">
            <a:avLst/>
          </a:prstGeom>
          <a:solidFill>
            <a:srgbClr val="FA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4407408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Калька (сложное слово)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4983480"/>
            <a:ext cx="233172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120640"/>
            <a:ext cx="2148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Кашпо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983480"/>
            <a:ext cx="269748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0" y="512064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Cache-pot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4983480"/>
            <a:ext cx="306324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5120640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Спрячь горшок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983480"/>
            <a:ext cx="3063240" cy="65836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0" y="5120640"/>
            <a:ext cx="2880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218"/>
                </a:solidFill>
                <a:latin typeface="Calibri"/>
              </a:rPr>
              <a:t>Калька (сложное слово)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5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8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1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4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7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" fill="hold" nodeType="clickEffect">
                        <p:stCondLst>
                          <p:cond delay="0"/>
                        </p:stCondLst>
                        <p:childTnLst>
                          <p:par>
                            <p:cTn id="2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1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4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7" dur="45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0" dur="45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3" dur="45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6" dur="45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9" dur="45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2" dur="45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3" fill="hold" nodeType="clickEffect">
                        <p:stCondLst>
                          <p:cond delay="0"/>
                        </p:stCondLst>
                        <p:childTnLst>
                          <p:par>
                            <p:cTn id="5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6" dur="45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9" dur="45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2" dur="45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5" dur="45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8" dur="45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1" dur="45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4" dur="45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7" dur="45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8" fill="hold" nodeType="clickEffect">
                        <p:stCondLst>
                          <p:cond delay="0"/>
                        </p:stCondLst>
                        <p:childTnLst>
                          <p:par>
                            <p:cTn id="7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81" dur="45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8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84" dur="45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8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87" dur="45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8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0" dur="45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9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3" dur="45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9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6" dur="45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9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9" dur="45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2" dur="45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3" fill="hold" nodeType="clickEffect">
                        <p:stCondLst>
                          <p:cond delay="0"/>
                        </p:stCondLst>
                        <p:childTnLst>
                          <p:par>
                            <p:cTn id="10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6" dur="45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0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9" dur="45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1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2" dur="45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1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5" dur="450"/>
                                    <p:tgtEl>
                                      <p:spTgt spid="4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1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18" dur="450"/>
                                    <p:tgtEl>
                                      <p:spTgt spid="4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1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2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1" dur="450"/>
                                    <p:tgtEl>
                                      <p:spTgt spid="4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2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2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4" dur="450"/>
                                    <p:tgtEl>
                                      <p:spTgt spid="4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2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2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7" dur="450"/>
                                    <p:tgtEl>
                                      <p:spTgt spid="4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8" fill="hold" nodeType="clickEffect">
                        <p:stCondLst>
                          <p:cond delay="0"/>
                        </p:stCondLst>
                        <p:childTnLst>
                          <p:par>
                            <p:cTn id="12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31" dur="450"/>
                                    <p:tgtEl>
                                      <p:spTgt spid="4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3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34" dur="450"/>
                                    <p:tgtEl>
                                      <p:spTgt spid="4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3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37" dur="450"/>
                                    <p:tgtEl>
                                      <p:spTgt spid="4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3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0" dur="450"/>
                                    <p:tgtEl>
                                      <p:spTgt spid="4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4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4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3" dur="450"/>
                                    <p:tgtEl>
                                      <p:spTgt spid="5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4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4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6" dur="450"/>
                                    <p:tgtEl>
                                      <p:spTgt spid="5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4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4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9" dur="450"/>
                                    <p:tgtEl>
                                      <p:spTgt spid="5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5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5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52" dur="450"/>
                                    <p:tgtEl>
                                      <p:spTgt spid="5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СЛАЙД 5 · ПРАКТИКУМ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2A2218"/>
                </a:solidFill>
                <a:latin typeface="Georgia"/>
              </a:rPr>
              <a:t>Кто быстрее соберёт свой саквояж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7A1F2B"/>
                </a:solidFill>
                <a:latin typeface="Georgia"/>
              </a:rPr>
              <a:t>Экспресс «Африка — Россия»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Балет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83664" y="1920240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Батон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59152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Берет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2359152"/>
            <a:ext cx="1755648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Браслет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98064"/>
            <a:ext cx="1152144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Бюро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82496" y="2798064"/>
            <a:ext cx="1956816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Гардероб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36976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Гурман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2" y="3236976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Жалюзи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75888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Жакет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83664" y="3675888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Кашне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377440"/>
            <a:ext cx="3017520" cy="2926080"/>
          </a:xfrm>
          <a:prstGeom prst="roundRect">
            <a:avLst>
              <a:gd name="adj" fmla="val 4000"/>
            </a:avLst>
          </a:prstGeom>
          <a:solidFill>
            <a:srgbClr val="5A2A18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9184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E8D5A3"/>
                </a:solidFill>
                <a:latin typeface="Georgia"/>
              </a:rPr>
              <a:t>САКВОЯЖ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66344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E8FFE8"/>
                </a:solidFill>
                <a:latin typeface="Calibri"/>
              </a:rPr>
              <a:t>ПРОХОДИТЕ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4617720"/>
            <a:ext cx="2011680" cy="457200"/>
          </a:xfrm>
          <a:prstGeom prst="roundRect">
            <a:avLst/>
          </a:prstGeom>
          <a:solidFill>
            <a:srgbClr val="1F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0" y="1920240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Колье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1920240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Корсет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359152"/>
            <a:ext cx="1152144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Крем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2359152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Люстра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798064"/>
            <a:ext cx="1755648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Маникюр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798064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Пальто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236976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Парфюм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91472" y="3236976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Помада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675888"/>
            <a:ext cx="1956816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Портфель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93808" y="3675888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Туалет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4114800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Фуршет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3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6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9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2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5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8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1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4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7" dur="45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" fill="hold" nodeType="clickEffect">
                        <p:stCondLst>
                          <p:cond delay="0"/>
                        </p:stCondLst>
                        <p:childTnLst>
                          <p:par>
                            <p:cTn id="3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1" dur="45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4" dur="45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7" dur="45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8" fill="hold" nodeType="clickEffect">
                        <p:stCondLst>
                          <p:cond delay="0"/>
                        </p:stCondLst>
                        <p:childTnLst>
                          <p:par>
                            <p:cTn id="4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1" dur="45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4" dur="45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7" dur="45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0" dur="45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3" dur="45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6" dur="45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9" dur="45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2" dur="45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5" dur="45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8" dur="45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81" dur="45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СЛАЙД 6 · ЧТЕНИЕ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2A2218"/>
                </a:solidFill>
                <a:latin typeface="Georgia"/>
              </a:rPr>
              <a:t>Кто лучше прочитает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93776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2A2218"/>
                </a:solidFill>
                <a:latin typeface="Georgia"/>
              </a:rPr>
              <a:t>В саквояже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Батон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12264" y="2148840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Берет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148840"/>
            <a:ext cx="1755648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Браслет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87752"/>
            <a:ext cx="1956816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Гардероб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2587752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Жакет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2232" y="2587752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Кашне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26664"/>
            <a:ext cx="1353312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Колье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12264" y="3026664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Корсет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9896" y="3026664"/>
            <a:ext cx="1152144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Крем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65576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Пальто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13432" y="3465576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Парфюм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41064" y="3465576"/>
            <a:ext cx="1554480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Помада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04488"/>
            <a:ext cx="1956816" cy="365760"/>
          </a:xfrm>
          <a:prstGeom prst="roundRect">
            <a:avLst/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2A2218"/>
                </a:solidFill>
                <a:latin typeface="Calibri"/>
              </a:rPr>
              <a:t>Портфель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394960" cy="493776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5448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2A2218"/>
                </a:solidFill>
                <a:latin typeface="Georgia"/>
              </a:rPr>
              <a:t>Какие слова лишние?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286000"/>
            <a:ext cx="1554480" cy="365760"/>
          </a:xfrm>
          <a:prstGeom prst="roundRect">
            <a:avLst/>
          </a:prstGeom>
          <a:solidFill>
            <a:srgbClr val="F7E6E4"/>
          </a:solidFill>
          <a:ln>
            <a:solidFill>
              <a:srgbClr val="C48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8E2428"/>
                </a:solidFill>
                <a:latin typeface="Calibri"/>
              </a:rPr>
              <a:t>Фуршет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2286000"/>
            <a:ext cx="1554480" cy="365760"/>
          </a:xfrm>
          <a:prstGeom prst="roundRect">
            <a:avLst/>
          </a:prstGeom>
          <a:solidFill>
            <a:srgbClr val="F7E6E4"/>
          </a:solidFill>
          <a:ln>
            <a:solidFill>
              <a:srgbClr val="C48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8E2428"/>
                </a:solidFill>
                <a:latin typeface="Calibri"/>
              </a:rPr>
              <a:t>Туалет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01784" y="2286000"/>
            <a:ext cx="1353312" cy="365760"/>
          </a:xfrm>
          <a:prstGeom prst="roundRect">
            <a:avLst/>
          </a:prstGeom>
          <a:solidFill>
            <a:srgbClr val="F7E6E4"/>
          </a:solidFill>
          <a:ln>
            <a:solidFill>
              <a:srgbClr val="C48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8E2428"/>
                </a:solidFill>
                <a:latin typeface="Calibri"/>
              </a:rPr>
              <a:t>Балет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724912"/>
            <a:ext cx="1152144" cy="365760"/>
          </a:xfrm>
          <a:prstGeom prst="roundRect">
            <a:avLst/>
          </a:prstGeom>
          <a:solidFill>
            <a:srgbClr val="F7E6E4"/>
          </a:solidFill>
          <a:ln>
            <a:solidFill>
              <a:srgbClr val="C48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8E2428"/>
                </a:solidFill>
                <a:latin typeface="Calibri"/>
              </a:rPr>
              <a:t>Бюро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71816" y="2724912"/>
            <a:ext cx="1554480" cy="365760"/>
          </a:xfrm>
          <a:prstGeom prst="roundRect">
            <a:avLst/>
          </a:prstGeom>
          <a:solidFill>
            <a:srgbClr val="F7E6E4"/>
          </a:solidFill>
          <a:ln>
            <a:solidFill>
              <a:srgbClr val="C48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8E2428"/>
                </a:solidFill>
                <a:latin typeface="Calibri"/>
              </a:rPr>
              <a:t>Гурман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99448" y="2724912"/>
            <a:ext cx="1554480" cy="365760"/>
          </a:xfrm>
          <a:prstGeom prst="roundRect">
            <a:avLst/>
          </a:prstGeom>
          <a:solidFill>
            <a:srgbClr val="F7E6E4"/>
          </a:solidFill>
          <a:ln>
            <a:solidFill>
              <a:srgbClr val="C48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8E2428"/>
                </a:solidFill>
                <a:latin typeface="Calibri"/>
              </a:rPr>
              <a:t>Жалюзи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163824"/>
            <a:ext cx="1554480" cy="365760"/>
          </a:xfrm>
          <a:prstGeom prst="roundRect">
            <a:avLst/>
          </a:prstGeom>
          <a:solidFill>
            <a:srgbClr val="F7E6E4"/>
          </a:solidFill>
          <a:ln>
            <a:solidFill>
              <a:srgbClr val="C48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8E2428"/>
                </a:solidFill>
                <a:latin typeface="Calibri"/>
              </a:rPr>
              <a:t>Люстра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4152" y="3163824"/>
            <a:ext cx="1755648" cy="365760"/>
          </a:xfrm>
          <a:prstGeom prst="roundRect">
            <a:avLst/>
          </a:prstGeom>
          <a:solidFill>
            <a:srgbClr val="F7E6E4"/>
          </a:solidFill>
          <a:ln>
            <a:solidFill>
              <a:srgbClr val="C48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0">
                <a:solidFill>
                  <a:srgbClr val="8E2428"/>
                </a:solidFill>
                <a:latin typeface="Calibri"/>
              </a:rPr>
              <a:t>Маникюр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5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8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1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4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7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0" dur="45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3" dur="45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6" dur="45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3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3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39" dur="45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2" dur="45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5" dur="45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4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4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48" dur="45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9" fill="hold" nodeType="clickEffect">
                        <p:stCondLst>
                          <p:cond delay="0"/>
                        </p:stCondLst>
                        <p:childTnLst>
                          <p:par>
                            <p:cTn id="5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2" dur="45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5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5" dur="45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6" fill="hold" nodeType="clickEffect">
                        <p:stCondLst>
                          <p:cond delay="0"/>
                        </p:stCondLst>
                        <p:childTnLst>
                          <p:par>
                            <p:cTn id="5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59" dur="45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2" dur="45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3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4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5" dur="45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6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8" dur="45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69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0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1" dur="45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4" dur="45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5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6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2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77" dur="45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7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3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80" dur="45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СЛАЙД 7 · КТО САМЫЙ ВНИМАТЕЛЬНЫЙ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2A2218"/>
                </a:solidFill>
                <a:latin typeface="Georgia"/>
              </a:rPr>
              <a:t>Услышьте знакомые слова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7A1F2B"/>
                </a:solidFill>
                <a:latin typeface="Calibri"/>
              </a:rPr>
              <a:t>А сейчас тому, кто услышит знакомые слова, — приз: моё учебное пособие «Русский Экспресс».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5303520" cy="310896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7A1F2B"/>
                </a:solidFill>
                <a:latin typeface="Calibri"/>
              </a:rPr>
              <a:t>CHEVALIER DE LA TABLE RONDE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8463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2A2218"/>
                </a:solidFill>
                <a:latin typeface="Georgia"/>
              </a:rPr>
              <a:t>Chevalier de la table ronde</a:t>
            </a:r>
          </a:p>
          <a:p>
            <a:pPr algn="l"/>
            <a:r>
              <a:rPr sz="2000" b="0" i="0">
                <a:solidFill>
                  <a:srgbClr val="2A2218"/>
                </a:solidFill>
                <a:latin typeface="Georgia"/>
              </a:rPr>
              <a:t>Dites-moi s’il le vin est bon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303520" cy="310896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7A1F2B"/>
                </a:solidFill>
                <a:latin typeface="Calibri"/>
              </a:rPr>
              <a:t>MON MEC À MOI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48463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2A2218"/>
                </a:solidFill>
                <a:latin typeface="Georgia"/>
              </a:rPr>
              <a:t>Mon mec à moi il me parle d’aventures</a:t>
            </a:r>
          </a:p>
          <a:p>
            <a:pPr algn="l"/>
            <a:r>
              <a:rPr sz="1800" b="0" i="0">
                <a:solidFill>
                  <a:srgbClr val="2A2218"/>
                </a:solidFill>
                <a:latin typeface="Georgia"/>
              </a:rPr>
              <a:t>Et quand il brille dans ses yeux</a:t>
            </a:r>
          </a:p>
          <a:p>
            <a:pPr algn="l"/>
            <a:r>
              <a:rPr sz="1800" b="0" i="0">
                <a:solidFill>
                  <a:srgbClr val="2A2218"/>
                </a:solidFill>
                <a:latin typeface="Georgia"/>
              </a:rPr>
              <a:t>j’pourrai passer la nuit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" fill="hold" nodeType="clickEffect">
                        <p:stCondLst>
                          <p:cond delay="0"/>
                        </p:stCondLst>
                        <p:childTnLst>
                          <p:par>
                            <p:cTn id="1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3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6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9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 nodeType="clickEffect">
                        <p:stCondLst>
                          <p:cond delay="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3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2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6" dur="45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3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9" dur="45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ВИКТОР ГЮГО · «ПАРИЖ»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2A2218"/>
                </a:solidFill>
                <a:latin typeface="Georgia"/>
              </a:rPr>
              <a:t>Корни, которые уже ваши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57600" cy="4846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200400" cy="4206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Cette ville aux longs cris,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Qui profile son front gris,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Des toits frêles, cent tourelles,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Clochers grêles,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C’est Paris.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657600" cy="4846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3200400" cy="4206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Des quadrilles,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Des chansons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Mêlent filles et garçons.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Quelle fête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Que des têtes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Sur les faîtes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Des maisons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657600" cy="4846320"/>
          </a:xfrm>
          <a:prstGeom prst="roundRect">
            <a:avLst>
              <a:gd name="adj" fmla="val 4000"/>
            </a:avLst>
          </a:prstGeom>
          <a:solidFill>
            <a:srgbClr val="FFFAF3"/>
          </a:solidFill>
          <a:ln>
            <a:solidFill>
              <a:srgbClr val="E0D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737360"/>
            <a:ext cx="3200400" cy="4206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Le vieux Louvre,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Large et lourd,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Il ne s’ouvre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Qu’au grand jour.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…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Comme une onde</a:t>
            </a:r>
          </a:p>
          <a:p>
            <a:pPr algn="l"/>
            <a:r>
              <a:rPr sz="1600" b="0" i="0">
                <a:solidFill>
                  <a:srgbClr val="2A2218"/>
                </a:solidFill>
                <a:latin typeface="Georgia"/>
              </a:rPr>
              <a:t>Sur la mer.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" fill="hold" nodeType="clickEffect">
                        <p:stCondLst>
                          <p:cond delay="0"/>
                        </p:stCondLst>
                        <p:childTnLst>
                          <p:par>
                            <p:cTn id="1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3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6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" fill="hold" nodeType="clickEffect">
                        <p:stCondLst>
                          <p:cond delay="0"/>
                        </p:stCondLst>
                        <p:childTnLst>
                          <p:par>
                            <p:cTn id="1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0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1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3" dur="45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A35A"/>
                </a:solidFill>
                <a:latin typeface="Calibri"/>
              </a:rPr>
              <a:t>ГЕОПОЛИТИКА СМЫСЛОВ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4937760" cy="50292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120640" cy="4663440"/>
          </a:xfrm>
          <a:prstGeom prst="rect">
            <a:avLst/>
          </a:prstGeom>
          <a:solidFill>
            <a:srgbClr val="8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AF3"/>
                </a:solidFill>
                <a:latin typeface="Calibri"/>
              </a:rPr>
              <a:t>AFRIQUE FRANCOPHONE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320040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FFFAF3"/>
                </a:solidFill>
                <a:latin typeface="Georgia"/>
              </a:rPr>
              <a:t>РОССИЯ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4572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AF3"/>
                </a:solidFill>
                <a:latin typeface="Calibri"/>
              </a:rPr>
              <a:t>Алжир · Рабат · Дакар · Бамако · Ниамей · Абиджан · Ломе · Яунде · Банги · Киншаса · Каир · Антананариву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29184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4A35A"/>
                </a:solidFill>
                <a:latin typeface="Calibri"/>
              </a:rPr>
              <a:t>······→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6692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E8D5A3"/>
                </a:solidFill>
                <a:latin typeface="Calibri"/>
              </a:rPr>
              <a:t>Нити смыслов: из столиц франкофонной Африки — в Россию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4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9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0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1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2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" fill="hold" nodeType="clickEffect">
                        <p:stCondLst>
                          <p:cond delay="0"/>
                        </p:stCondLst>
                        <p:childTnLst>
                          <p:par>
                            <p:cTn id="1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6" dur="45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17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8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9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 nodeType="clickEffect">
                        <p:stCondLst>
                          <p:cond delay="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2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9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3" dur="45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  <p:par>
                            <p:cTn id="2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2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10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26" dur="45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8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200" b="1" i="0">
                <a:solidFill>
                  <a:srgbClr val="C4A35A"/>
                </a:solidFill>
                <a:latin typeface="Georgia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966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 i="0">
                <a:solidFill>
                  <a:srgbClr val="FFFAF3"/>
                </a:solidFill>
                <a:latin typeface="Georgia"/>
              </a:rPr>
              <a:t>Русский язык ближе,</a:t>
            </a:r>
          </a:p>
          <a:p>
            <a:pPr algn="ctr"/>
            <a:r>
              <a:rPr sz="4000" b="1" i="0">
                <a:solidFill>
                  <a:srgbClr val="FFFAF3"/>
                </a:solidFill>
                <a:latin typeface="Georgia"/>
              </a:rPr>
              <a:t>чем вам кажется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4183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E8D5A3"/>
                </a:solidFill>
                <a:latin typeface="Calibri"/>
              </a:rPr>
              <a:t>Бамако · Ниамей · Банги</a:t>
            </a:r>
          </a:p>
          <a:p>
            <a:pPr algn="ctr"/>
            <a:r>
              <a:rPr sz="2000" b="0" i="0">
                <a:solidFill>
                  <a:srgbClr val="E8D5A3"/>
                </a:solidFill>
                <a:latin typeface="Calibri"/>
              </a:rPr>
              <a:t>Абиджан · Яунде · Того</a:t>
            </a:r>
          </a:p>
          <a:p>
            <a:pPr algn="ctr"/>
            <a:r>
              <a:rPr sz="2000" b="0" i="0">
                <a:solidFill>
                  <a:srgbClr val="E8D5A3"/>
                </a:solidFill>
                <a:latin typeface="Calibri"/>
              </a:rPr>
              <a:t>и Россия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9418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1">
                <a:solidFill>
                  <a:srgbClr val="FFFAF3"/>
                </a:solidFill>
                <a:latin typeface="Georgia"/>
              </a:rPr>
              <a:t>Merci pour votre attention !</a:t>
            </a:r>
          </a:p>
        </p:txBody>
      </p:sp>
    </p:spTree>
    <p:timing>
      <p:tnLst>
        <p:par>
          <p:cTn id="1" dur="indefinite" restart="never" nodeType="tmRoot">
            <p:childTnLst>
              <p:seq concurrent="true" nextAc="seek">
                <p:cTn id="2" dur="indefinite" nodeType="mainSeq">
                  <p:childTnLst>
                    <p:par>
                      <p:cTn id="3" fill="hold" nodeType="clickEffect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5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5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6" dur="45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" fill="hold" nodeType="clickEffect">
                        <p:stCondLst>
                          <p:cond delay="0"/>
                        </p:stCondLst>
                        <p:childTnLst>
                          <p:par>
                            <p:cTn id="8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9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6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0" dur="45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" fill="hold" nodeType="clickEffect">
                        <p:stCondLst>
                          <p:cond delay="0"/>
                        </p:stCondLst>
                        <p:childTnLst>
                          <p:par>
                            <p:cTn id="12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3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7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4" dur="45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fill="hold" nodeType="clickEffect">
                        <p:stCondLst>
                          <p:cond delay="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set>
                                  <p:cBhvr>
                                    <p:cTn id="17" dur="1" fill="hold">
                                      <p:stCondLst>
                                        <p:cond delay="0"/>
                                      </p:stCondLst>
                                    </p:cTn>
                                    <p:tgtEl>
                                      <p:spTgt spid="8"/>
                                    </p:tgtEl>
                                    <p:attrNameLst>
                                      <p:attrName>style.visibility</p:attrName>
                                    </p:attrNameLst>
                                  </p:cBhvr>
                                  <p:to>
                                    <p:strVal val="visible"/>
                                  </p:to>
                                </p:set>
                                <p:animEffect transition="in" filter="fade">
                                  <p:cBhvr>
                                    <p:cTn id="18" dur="45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